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011680"/>
            <a:ext cx="5943600" cy="5943600"/>
          </a:xfrm>
          <a:prstGeom prst="ellipse">
            <a:avLst/>
          </a:prstGeom>
          <a:solidFill>
            <a:srgbClr val="328747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692640" y="4023360"/>
            <a:ext cx="4023360" cy="4023360"/>
          </a:xfrm>
          <a:prstGeom prst="ellipse">
            <a:avLst/>
          </a:prstGeom>
          <a:solidFill>
            <a:srgbClr val="A51E27">
              <a:alpha val="6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635240" y="1051560"/>
            <a:ext cx="502920" cy="502920"/>
          </a:xfrm>
          <a:prstGeom prst="ellipse">
            <a:avLst/>
          </a:prstGeom>
          <a:solidFill>
            <a:srgbClr val="A51E27"/>
          </a:solidFill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FB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PROBLEM  •  SEPT 2026. CAROLINE GAITA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85953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Vetting Loop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 platform for parliamentary vetting in Kenya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“Agency without accountability is a suggestion box; accountability without agency is surveillance. We build both.”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029200"/>
            <a:ext cx="502920" cy="54864"/>
          </a:xfrm>
          <a:prstGeom prst="rect">
            <a:avLst/>
          </a:prstGeom>
          <a:solidFill>
            <a:srgbClr val="A51E27"/>
          </a:solidFill>
        </p:spPr>
      </p:sp>
      <p:sp>
        <p:nvSpPr>
          <p:cNvPr id="10" name="Text 8"/>
          <p:cNvSpPr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module on Mzalendo’s existing parliamentary-monitoring rails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5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Vetting follows the form of participation, not the substance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349240" cy="1298448"/>
          </a:xfrm>
          <a:prstGeom prst="rect">
            <a:avLst/>
          </a:prstGeom>
          <a:solidFill>
            <a:srgbClr val="F4F6F4"/>
          </a:solidFill>
          <a:effectLst>
            <a:outerShdw blurRad="88900" dist="25400" dir="8100000" algn="bl" rotWithShape="0">
              <a:srgbClr val="3A3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82296" cy="1298448"/>
          </a:xfrm>
          <a:prstGeom prst="rect">
            <a:avLst/>
          </a:prstGeom>
          <a:solidFill>
            <a:srgbClr val="A51E27"/>
          </a:solidFill>
        </p:spPr>
      </p:sp>
      <p:sp>
        <p:nvSpPr>
          <p:cNvPr id="6" name="Text 4"/>
          <p:cNvSpPr/>
          <p:nvPr/>
        </p:nvSpPr>
        <p:spPr>
          <a:xfrm>
            <a:off x="960120" y="191109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1E27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Rarity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of a Cabinet nominee is a documented rarity — hearings reward polished CVs, not interrogation.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264408"/>
            <a:ext cx="5349240" cy="1298448"/>
          </a:xfrm>
          <a:prstGeom prst="rect">
            <a:avLst/>
          </a:prstGeom>
          <a:solidFill>
            <a:srgbClr val="F4F6F4"/>
          </a:solidFill>
          <a:effectLst>
            <a:outerShdw blurRad="88900" dist="25400" dir="8100000" algn="bl" rotWithShape="0">
              <a:srgbClr val="3A373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3264408"/>
            <a:ext cx="82296" cy="1298448"/>
          </a:xfrm>
          <a:prstGeom prst="rect">
            <a:avLst/>
          </a:prstGeom>
          <a:solidFill>
            <a:srgbClr val="A51E27"/>
          </a:solidFill>
        </p:spPr>
      </p:sp>
      <p:sp>
        <p:nvSpPr>
          <p:cNvPr id="10" name="Text 8"/>
          <p:cNvSpPr/>
          <p:nvPr/>
        </p:nvSpPr>
        <p:spPr>
          <a:xfrm>
            <a:off x="960120" y="339242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1E27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void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721608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memoranda are invited, then disappear — no publication or response obligation ties input to outcome.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745736"/>
            <a:ext cx="5349240" cy="1298448"/>
          </a:xfrm>
          <a:prstGeom prst="rect">
            <a:avLst/>
          </a:prstGeom>
          <a:solidFill>
            <a:srgbClr val="F4F6F4"/>
          </a:solidFill>
          <a:effectLst>
            <a:outerShdw blurRad="88900" dist="25400" dir="8100000" algn="bl" rotWithShape="0">
              <a:srgbClr val="3A373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4745736"/>
            <a:ext cx="82296" cy="1298448"/>
          </a:xfrm>
          <a:prstGeom prst="rect">
            <a:avLst/>
          </a:prstGeom>
          <a:solidFill>
            <a:srgbClr val="A51E27"/>
          </a:solidFill>
        </p:spPr>
      </p:sp>
      <p:sp>
        <p:nvSpPr>
          <p:cNvPr id="14" name="Text 12"/>
          <p:cNvSpPr/>
          <p:nvPr/>
        </p:nvSpPr>
        <p:spPr>
          <a:xfrm>
            <a:off x="960120" y="487375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1E27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Pre-ordained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5202936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reports arrive settled by coalition arithmetic before the gavel falls.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783080"/>
            <a:ext cx="5074920" cy="4297680"/>
          </a:xfrm>
          <a:prstGeom prst="rect">
            <a:avLst/>
          </a:prstGeom>
          <a:solidFill>
            <a:srgbClr val="272525"/>
          </a:solidFill>
        </p:spPr>
      </p:sp>
      <p:sp>
        <p:nvSpPr>
          <p:cNvPr id="17" name="Text 15"/>
          <p:cNvSpPr/>
          <p:nvPr/>
        </p:nvSpPr>
        <p:spPr>
          <a:xfrm>
            <a:off x="6720840" y="205740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9FB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THEIR OWN WORDS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246888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“A clearing and forwarding exercise.”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720840" y="342900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Senator Okong’o Omogeni, MP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0840" y="3886200"/>
            <a:ext cx="457200" cy="45720"/>
          </a:xfrm>
          <a:prstGeom prst="rect">
            <a:avLst/>
          </a:prstGeom>
          <a:solidFill>
            <a:srgbClr val="A51E27"/>
          </a:solidFill>
        </p:spPr>
      </p:sp>
      <p:sp>
        <p:nvSpPr>
          <p:cNvPr id="21" name="Text 19"/>
          <p:cNvSpPr/>
          <p:nvPr/>
        </p:nvSpPr>
        <p:spPr>
          <a:xfrm>
            <a:off x="6720840" y="4114800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“A theatre of the absurd.”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720840" y="489204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of Parliament on the vetting process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5394960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FC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as ritual: citizens present in form, absent in effect.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Vetting Loop  •  Hackathon Problem Two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5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One record, three acts — the loop that connects citizens to MPs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45432" y="19202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C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0948" y="19202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CA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023360" y="562356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the next appointment re-opens the loop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737360"/>
            <a:ext cx="1005840" cy="1005840"/>
          </a:xfrm>
          <a:prstGeom prst="ellipse">
            <a:avLst/>
          </a:prstGeom>
          <a:solidFill>
            <a:srgbClr val="A51E27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7558" y="1998878"/>
            <a:ext cx="482803" cy="482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2834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A5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45920" y="31089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Nominee File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057400" y="3520440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Source-linked dossier: CV, track record, integrity flags. Public question queue with upvotes.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593385" y="1737360"/>
            <a:ext cx="1005840" cy="1005840"/>
          </a:xfrm>
          <a:prstGeom prst="ellipse">
            <a:avLst/>
          </a:prstGeom>
          <a:solidFill>
            <a:srgbClr val="328747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903" y="1998878"/>
            <a:ext cx="482803" cy="482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99025" y="2834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328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33265" y="31089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hearing record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044745" y="3520440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asked what, tagged by topic — citizen questions shown alongside: asked vs. ignored.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577072" y="1737360"/>
            <a:ext cx="1005840" cy="1005840"/>
          </a:xfrm>
          <a:prstGeom prst="ellipse">
            <a:avLst/>
          </a:prstGeom>
          <a:solidFill>
            <a:srgbClr val="A51E27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590" y="1998878"/>
            <a:ext cx="482803" cy="482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82712" y="2834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A5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616952" y="31089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accountability trail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028432" y="3520440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vs. submissions, side by side. Per-MP vote on every approval — one query.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Vetting Loop  •  Hackathon Problem Two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5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BEFORE THE HEARING (T-30 → T-0)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Nominee File: evidence, not allegations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349240" cy="4160520"/>
          </a:xfrm>
          <a:prstGeom prst="rect">
            <a:avLst/>
          </a:prstGeom>
          <a:solidFill>
            <a:srgbClr val="F4F6F4"/>
          </a:solidFill>
          <a:effectLst>
            <a:outerShdw blurRad="88900" dist="25400" dir="8100000" algn="bl" rotWithShape="0">
              <a:srgbClr val="3A3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658368" cy="658368"/>
          </a:xfrm>
          <a:prstGeom prst="ellipse">
            <a:avLst/>
          </a:prstGeom>
          <a:solidFill>
            <a:srgbClr val="A51E27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016" y="222857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5798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Auto-assembled dossier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2971800"/>
            <a:ext cx="470916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timeline and performance in prior offices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flags: court cases, EACC adverse reports, prior vetting transcripts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a source document — never an allegation bare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5074920" cy="4160520"/>
          </a:xfrm>
          <a:prstGeom prst="rect">
            <a:avLst/>
          </a:prstGeom>
          <a:solidFill>
            <a:srgbClr val="328747"/>
          </a:solidFill>
        </p:spPr>
      </p:sp>
      <p:sp>
        <p:nvSpPr>
          <p:cNvPr id="10" name="Shape 7"/>
          <p:cNvSpPr/>
          <p:nvPr/>
        </p:nvSpPr>
        <p:spPr>
          <a:xfrm>
            <a:off x="6720840" y="2057400"/>
            <a:ext cx="658368" cy="658368"/>
          </a:xfrm>
          <a:prstGeom prst="ellipse">
            <a:avLst/>
          </a:prstGeom>
          <a:solidFill>
            <a:srgbClr val="1F5A30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016" y="222857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15798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public question queue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720840" y="2971800"/>
            <a:ext cx="443484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and CSOs submit; others upvote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questions become the published “questions Kenyans are asking this nominee” — quotable, hand-delivered to the committee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scattered records into a briefing a journalist or MP can use in an hour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Vetting Loop  •  Hackathon Problem Two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5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DURING THE 28-DAY WINDOW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hearing record makes non-engagement visible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A5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QUESTION QUEUE — LIVE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5943600" cy="713232"/>
          </a:xfrm>
          <a:prstGeom prst="rect">
            <a:avLst/>
          </a:prstGeom>
          <a:solidFill>
            <a:srgbClr val="F4F6F4"/>
          </a:solidFill>
          <a:effectLst>
            <a:outerShdw blurRad="88900" dist="25400" dir="8100000" algn="bl" rotWithShape="0">
              <a:srgbClr val="3A373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73152" cy="713232"/>
          </a:xfrm>
          <a:prstGeom prst="rect">
            <a:avLst/>
          </a:prstGeom>
          <a:solidFill>
            <a:srgbClr val="A51E27"/>
          </a:solidFill>
        </p:spPr>
      </p:sp>
      <p:sp>
        <p:nvSpPr>
          <p:cNvPr id="7" name="Text 5"/>
          <p:cNvSpPr/>
          <p:nvPr/>
        </p:nvSpPr>
        <p:spPr>
          <a:xfrm>
            <a:off x="960120" y="1965960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Court case pending in Mombasa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120640" y="1965960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50" dirty="0">
                <a:solidFill>
                  <a:srgbClr val="A5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825496"/>
            <a:ext cx="5943600" cy="713232"/>
          </a:xfrm>
          <a:prstGeom prst="rect">
            <a:avLst/>
          </a:prstGeom>
          <a:solidFill>
            <a:srgbClr val="F4F6F4"/>
          </a:solidFill>
          <a:effectLst>
            <a:outerShdw blurRad="88900" dist="25400" dir="8100000" algn="bl" rotWithShape="0">
              <a:srgbClr val="3A373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825496"/>
            <a:ext cx="73152" cy="713232"/>
          </a:xfrm>
          <a:prstGeom prst="rect">
            <a:avLst/>
          </a:prstGeom>
          <a:solidFill>
            <a:srgbClr val="328747"/>
          </a:solidFill>
        </p:spPr>
      </p:sp>
      <p:sp>
        <p:nvSpPr>
          <p:cNvPr id="11" name="Text 9"/>
          <p:cNvSpPr/>
          <p:nvPr/>
        </p:nvSpPr>
        <p:spPr>
          <a:xfrm>
            <a:off x="960120" y="2825496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· Cost of last office’s stalled projects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120640" y="2825496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50" dirty="0">
                <a:solidFill>
                  <a:srgbClr val="328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685032"/>
            <a:ext cx="5943600" cy="713232"/>
          </a:xfrm>
          <a:prstGeom prst="rect">
            <a:avLst/>
          </a:prstGeom>
          <a:solidFill>
            <a:srgbClr val="F4F6F4"/>
          </a:solidFill>
          <a:effectLst>
            <a:outerShdw blurRad="88900" dist="25400" dir="8100000" algn="bl" rotWithShape="0">
              <a:srgbClr val="3A3733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685032"/>
            <a:ext cx="73152" cy="713232"/>
          </a:xfrm>
          <a:prstGeom prst="rect">
            <a:avLst/>
          </a:prstGeom>
          <a:solidFill>
            <a:srgbClr val="A51E27"/>
          </a:solidFill>
        </p:spPr>
      </p:sp>
      <p:sp>
        <p:nvSpPr>
          <p:cNvPr id="15" name="Text 13"/>
          <p:cNvSpPr/>
          <p:nvPr/>
        </p:nvSpPr>
        <p:spPr>
          <a:xfrm>
            <a:off x="960120" y="3685032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Source of campaign donations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20640" y="3685032"/>
            <a:ext cx="1371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50" dirty="0">
                <a:solidFill>
                  <a:srgbClr val="A5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5902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— ILLUSTRATIVE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040880" y="1627632"/>
            <a:ext cx="4434840" cy="4251960"/>
          </a:xfrm>
          <a:prstGeom prst="rect">
            <a:avLst/>
          </a:prstGeom>
          <a:solidFill>
            <a:srgbClr val="272525"/>
          </a:solidFill>
        </p:spPr>
      </p:sp>
      <p:sp>
        <p:nvSpPr>
          <p:cNvPr id="19" name="Text 17"/>
          <p:cNvSpPr/>
          <p:nvPr/>
        </p:nvSpPr>
        <p:spPr>
          <a:xfrm>
            <a:off x="7360920" y="19202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9FB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60920" y="2286000"/>
            <a:ext cx="37947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An ignored-question list is soft power in the committee’s own legitimacy language.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60920" y="3886200"/>
            <a:ext cx="37947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Committees depend on the optics of participation. The platform does not editorialise — it publishes the record, and the record asks the next question.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Vetting Loop  •  Hackathon Problem Two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5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AFTER THE VOTE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accountability trail: every vote retrievable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349240" cy="2834640"/>
          </a:xfrm>
          <a:prstGeom prst="rect">
            <a:avLst/>
          </a:prstGeom>
          <a:solidFill>
            <a:srgbClr val="F4F6F4"/>
          </a:solidFill>
          <a:effectLst>
            <a:outerShdw blurRad="88900" dist="25400" dir="8100000" algn="bl" rotWithShape="0">
              <a:srgbClr val="3A37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5740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328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REPORT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4709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citizen submissions, side by side: reflected, addressed, or absent?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39776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51E27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Was the public’s input answered — or filed?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074920" cy="2834640"/>
          </a:xfrm>
          <a:prstGeom prst="rect">
            <a:avLst/>
          </a:prstGeom>
          <a:solidFill>
            <a:srgbClr val="F4F6F4"/>
          </a:solidFill>
          <a:effectLst>
            <a:outerShdw blurRad="88900" dist="25400" dir="8100000" algn="bl" rotWithShape="0">
              <a:srgbClr val="3A37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0574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A5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PER-MP VOTE RECORD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720840" y="2423160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did your MP vote on the integrity-flagged nominee?” — a single query on existing voting-record rails.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20840" y="3977640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51E27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Resurfaces every election cycle.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5029200"/>
            <a:ext cx="10789920" cy="960120"/>
          </a:xfrm>
          <a:prstGeom prst="rect">
            <a:avLst/>
          </a:prstGeom>
          <a:solidFill>
            <a:srgbClr val="328747"/>
          </a:solidFill>
        </p:spPr>
      </p:sp>
      <p:sp>
        <p:nvSpPr>
          <p:cNvPr id="13" name="Text 11"/>
          <p:cNvSpPr/>
          <p:nvPr/>
        </p:nvSpPr>
        <p:spPr>
          <a:xfrm>
            <a:off x="1005840" y="5029200"/>
            <a:ext cx="101498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episode leaves a durable, shareable record — citable at the next performance review and the next election.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Vetting Loop  •  Hackathon Problem Two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5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FROM SCRATCH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 module on rails that already exist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074920" cy="1874520"/>
          </a:xfrm>
          <a:prstGeom prst="rect">
            <a:avLst/>
          </a:prstGeom>
          <a:solidFill>
            <a:srgbClr val="F4F6F4"/>
          </a:solidFill>
          <a:effectLst>
            <a:outerShdw blurRad="88900" dist="25400" dir="8100000" algn="bl" rotWithShape="0">
              <a:srgbClr val="3A3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121408"/>
            <a:ext cx="603504" cy="603504"/>
          </a:xfrm>
          <a:prstGeom prst="ellipse">
            <a:avLst/>
          </a:prstGeom>
          <a:solidFill>
            <a:srgbClr val="328747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319" y="2278319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39696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mzalendo.com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578608"/>
            <a:ext cx="3794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reports already indexed and tagged “Vetting / approval”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074920" cy="1874520"/>
          </a:xfrm>
          <a:prstGeom prst="rect">
            <a:avLst/>
          </a:prstGeom>
          <a:solidFill>
            <a:srgbClr val="F4F6F4"/>
          </a:solidFill>
          <a:effectLst>
            <a:outerShdw blurRad="88900" dist="25400" dir="8100000" algn="bl" rotWithShape="0">
              <a:srgbClr val="3A3733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93408" y="2121408"/>
            <a:ext cx="603504" cy="603504"/>
          </a:xfrm>
          <a:prstGeom prst="ellipse">
            <a:avLst/>
          </a:prstGeom>
          <a:solidFill>
            <a:srgbClr val="A51E27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319" y="2278319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139696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Voting records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98080" y="2578608"/>
            <a:ext cx="3794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voting histories and scorecards — structured, queryable, public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" y="4069080"/>
            <a:ext cx="5074920" cy="1874520"/>
          </a:xfrm>
          <a:prstGeom prst="rect">
            <a:avLst/>
          </a:prstGeom>
          <a:solidFill>
            <a:srgbClr val="F4F6F4"/>
          </a:solidFill>
          <a:effectLst>
            <a:outerShdw blurRad="88900" dist="25400" dir="8100000" algn="bl" rotWithShape="0">
              <a:srgbClr val="3A3733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78408" y="4361688"/>
            <a:ext cx="603504" cy="603504"/>
          </a:xfrm>
          <a:prstGeom prst="ellipse">
            <a:avLst/>
          </a:prstGeom>
          <a:solidFill>
            <a:srgbClr val="328747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19" y="4518599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379976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Hansard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4818888"/>
            <a:ext cx="3794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sittings provide the transcript backbone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0" y="4069080"/>
            <a:ext cx="5074920" cy="1874520"/>
          </a:xfrm>
          <a:prstGeom prst="rect">
            <a:avLst/>
          </a:prstGeom>
          <a:solidFill>
            <a:srgbClr val="F4F6F4"/>
          </a:solidFill>
          <a:effectLst>
            <a:outerShdw blurRad="88900" dist="25400" dir="8100000" algn="bl" rotWithShape="0">
              <a:srgbClr val="3A3733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93408" y="4361688"/>
            <a:ext cx="603504" cy="603504"/>
          </a:xfrm>
          <a:prstGeom prst="ellipse">
            <a:avLst/>
          </a:prstGeom>
          <a:solidFill>
            <a:srgbClr val="A51E27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319" y="4518599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379976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hackathon build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98080" y="4818888"/>
            <a:ext cx="3794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and the citizen face — not data collection from scratch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28747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 standalone vetting app sits dormant eleven months a year. A module is exercised at every public appointment.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Vetting Loop  •  Hackathon Problem Two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5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HACKATHON WEEKEND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One real episode, one unforgettable juxtaposition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28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512064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nominee’s dossier (a real past CS vetting, source-linked flags)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queue with upvotes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Asked-vs-ignored hearing log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Per-MP vote 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4297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(MOCKED)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461772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Live-stream integration · multi-episode history · Kiswahili UI · accounts &amp; notifications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166360" cy="4160520"/>
          </a:xfrm>
          <a:prstGeom prst="rect">
            <a:avLst/>
          </a:prstGeom>
          <a:solidFill>
            <a:srgbClr val="272525"/>
          </a:solidFill>
        </p:spPr>
      </p:sp>
      <p:sp>
        <p:nvSpPr>
          <p:cNvPr id="9" name="Shape 7"/>
          <p:cNvSpPr/>
          <p:nvPr/>
        </p:nvSpPr>
        <p:spPr>
          <a:xfrm>
            <a:off x="6629400" y="2011680"/>
            <a:ext cx="603504" cy="603504"/>
          </a:xfrm>
          <a:prstGeom prst="ellipse">
            <a:avLst/>
          </a:prstGeom>
          <a:solidFill>
            <a:srgbClr val="A51E27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6311" y="2168591"/>
            <a:ext cx="289682" cy="2896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06640" y="2121408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9FB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SIGNATURE DEMO MOMENT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29400" y="2743200"/>
            <a:ext cx="448056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 source-linked integrity flag,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beside the transcript where no MP asked about it,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beside the vote tally where everyone approved.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629400" y="489204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FC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juxtaposition is the problem statement — demonstrated, not described.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Vetting Loop  •  Hackathon Problem Two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5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Credibility is the product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789920" cy="1234440"/>
          </a:xfrm>
          <a:prstGeom prst="rect">
            <a:avLst/>
          </a:prstGeom>
          <a:solidFill>
            <a:srgbClr val="F4F6F4"/>
          </a:solidFill>
          <a:effectLst>
            <a:outerShdw blurRad="88900" dist="25400" dir="8100000" algn="bl" rotWithShape="0">
              <a:srgbClr val="3A3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67128"/>
            <a:ext cx="640080" cy="640080"/>
          </a:xfrm>
          <a:prstGeom prst="ellipse">
            <a:avLst/>
          </a:prstGeom>
          <a:solidFill>
            <a:srgbClr val="328747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233354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39112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Defamation safety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120640" y="2002536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flags are evidence-linked or excluded. No bare allegations — this is the credibility differentiator, matching established monitoring methodology.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3291840"/>
            <a:ext cx="10789920" cy="1234440"/>
          </a:xfrm>
          <a:prstGeom prst="rect">
            <a:avLst/>
          </a:prstGeom>
          <a:solidFill>
            <a:srgbClr val="F4F6F4"/>
          </a:solidFill>
          <a:effectLst>
            <a:outerShdw blurRad="88900" dist="25400" dir="8100000" algn="bl" rotWithShape="0">
              <a:srgbClr val="3A3733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05840" y="3584448"/>
            <a:ext cx="640080" cy="640080"/>
          </a:xfrm>
          <a:prstGeom prst="ellipse">
            <a:avLst/>
          </a:prstGeom>
          <a:solidFill>
            <a:srgbClr val="A51E27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261" y="375086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456432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Non-partisanship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5120640" y="3419856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criticise process, not persons — and speak in Parliament’s own vocabulary: participation, oversight, Chapter Six.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" y="4709160"/>
            <a:ext cx="10789920" cy="1234440"/>
          </a:xfrm>
          <a:prstGeom prst="rect">
            <a:avLst/>
          </a:prstGeom>
          <a:solidFill>
            <a:srgbClr val="F4F6F4"/>
          </a:solidFill>
          <a:effectLst>
            <a:outerShdw blurRad="88900" dist="25400" dir="8100000" algn="bl" rotWithShape="0">
              <a:srgbClr val="3A3733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5001768"/>
            <a:ext cx="640080" cy="640080"/>
          </a:xfrm>
          <a:prstGeom prst="ellipse">
            <a:avLst/>
          </a:prstGeom>
          <a:solidFill>
            <a:srgbClr val="328747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261" y="516818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873752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7252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Durability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5120640" y="4837176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permanent, citable, and exportable in structured formats journalists and researchers can reuse.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Vetting Loop  •  Hackathon Problem Two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9FB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window is open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108960" cy="2743200"/>
          </a:xfrm>
          <a:prstGeom prst="rect">
            <a:avLst/>
          </a:prstGeom>
          <a:solidFill>
            <a:srgbClr val="3A3835"/>
          </a:solidFill>
        </p:spPr>
      </p:sp>
      <p:sp>
        <p:nvSpPr>
          <p:cNvPr id="5" name="Shape 3"/>
          <p:cNvSpPr/>
          <p:nvPr/>
        </p:nvSpPr>
        <p:spPr>
          <a:xfrm>
            <a:off x="685800" y="2103120"/>
            <a:ext cx="3108960" cy="82296"/>
          </a:xfrm>
          <a:prstGeom prst="rect">
            <a:avLst/>
          </a:prstGeom>
          <a:solidFill>
            <a:srgbClr val="D9534F"/>
          </a:solidFill>
        </p:spPr>
      </p:sp>
      <p:sp>
        <p:nvSpPr>
          <p:cNvPr id="6" name="Text 4"/>
          <p:cNvSpPr/>
          <p:nvPr/>
        </p:nvSpPr>
        <p:spPr>
          <a:xfrm>
            <a:off x="685800" y="237744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534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2027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60120" y="3383280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election makes every vetting vote electorally salient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44568" y="2103120"/>
            <a:ext cx="3108960" cy="2743200"/>
          </a:xfrm>
          <a:prstGeom prst="rect">
            <a:avLst/>
          </a:prstGeom>
          <a:solidFill>
            <a:srgbClr val="3A3835"/>
          </a:solidFill>
        </p:spPr>
      </p:sp>
      <p:sp>
        <p:nvSpPr>
          <p:cNvPr id="9" name="Shape 7"/>
          <p:cNvSpPr/>
          <p:nvPr/>
        </p:nvSpPr>
        <p:spPr>
          <a:xfrm>
            <a:off x="4544568" y="2103120"/>
            <a:ext cx="3108960" cy="82296"/>
          </a:xfrm>
          <a:prstGeom prst="rect">
            <a:avLst/>
          </a:prstGeom>
          <a:solidFill>
            <a:srgbClr val="D9534F"/>
          </a:solidFill>
        </p:spPr>
      </p:sp>
      <p:sp>
        <p:nvSpPr>
          <p:cNvPr id="10" name="Text 8"/>
          <p:cNvSpPr/>
          <p:nvPr/>
        </p:nvSpPr>
        <p:spPr>
          <a:xfrm>
            <a:off x="4544568" y="237744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534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2025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818888" y="3383280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Participation Bill before Parliament reopens the definition of participation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03336" y="2103120"/>
            <a:ext cx="3108960" cy="2743200"/>
          </a:xfrm>
          <a:prstGeom prst="rect">
            <a:avLst/>
          </a:prstGeom>
          <a:solidFill>
            <a:srgbClr val="3A3835"/>
          </a:solidFill>
        </p:spPr>
      </p:sp>
      <p:sp>
        <p:nvSpPr>
          <p:cNvPr id="13" name="Shape 11"/>
          <p:cNvSpPr/>
          <p:nvPr/>
        </p:nvSpPr>
        <p:spPr>
          <a:xfrm>
            <a:off x="8403336" y="2103120"/>
            <a:ext cx="3108960" cy="82296"/>
          </a:xfrm>
          <a:prstGeom prst="rect">
            <a:avLst/>
          </a:prstGeom>
          <a:solidFill>
            <a:srgbClr val="D9534F"/>
          </a:solidFill>
        </p:spPr>
      </p:sp>
      <p:sp>
        <p:nvSpPr>
          <p:cNvPr id="14" name="Text 12"/>
          <p:cNvSpPr/>
          <p:nvPr/>
        </p:nvSpPr>
        <p:spPr>
          <a:xfrm>
            <a:off x="8403336" y="237744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534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28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677656" y="3383280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days per approval — live streams and reports already produce the raw material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534924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BFA7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infrastructure exists. The evidence exists. The legal hooks exist. What is missing is the platform.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Vetting Loop  •  Hackathon Problem Two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297680"/>
            <a:ext cx="5486400" cy="5486400"/>
          </a:xfrm>
          <a:prstGeom prst="ellipse">
            <a:avLst/>
          </a:prstGeom>
          <a:solidFill>
            <a:srgbClr val="A51E27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966960" y="-1737360"/>
            <a:ext cx="4754880" cy="4754880"/>
          </a:xfrm>
          <a:prstGeom prst="ellipse">
            <a:avLst/>
          </a:prstGeom>
          <a:solidFill>
            <a:srgbClr val="328747">
              <a:alpha val="5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9FB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Impunity begins at confirmation.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87782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DDD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close the loop between citizens and Parliament — before the hearing, during, and after the vote — on infrastructure that already exists. Fund the weekend. We’ll bring the receipts.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502920" cy="54864"/>
          </a:xfrm>
          <a:prstGeom prst="rect">
            <a:avLst/>
          </a:prstGeom>
          <a:solidFill>
            <a:srgbClr val="A51E27"/>
          </a:solidFill>
        </p:spPr>
      </p:sp>
      <p:sp>
        <p:nvSpPr>
          <p:cNvPr id="8" name="Text 6"/>
          <p:cNvSpPr/>
          <p:nvPr/>
        </p:nvSpPr>
        <p:spPr>
          <a:xfrm>
            <a:off x="822960" y="4663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5B1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Uwazi  ·  Hackathon Problem Two  ·  September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5405</Words>
  <Application>WPS Docs</Application>
  <PresentationFormat>On-screen Show (16:9)</PresentationFormat>
  <Paragraphs>249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Georgia</vt:lpstr>
      <vt:lpstr>Georgia</vt:lpstr>
      <vt:lpstr>Georgia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Vetting Loop — Hackathon 2 Pitch</dc:title>
  <dc:creator>Uwazi</dc:creator>
  <dc:subject>PptxGenJS Presentation</dc:subject>
  <cp:lastModifiedBy>caroline-mzalendo</cp:lastModifiedBy>
  <cp:revision>2</cp:revision>
  <dcterms:created xsi:type="dcterms:W3CDTF">2026-09-24T10:50:24Z</dcterms:created>
  <dcterms:modified xsi:type="dcterms:W3CDTF">2026-09-24T10:50:24Z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1033-12.1.28496.28496</vt:lpwstr>
  </property>
  <property fmtid="{D5CDD505-2E9C-101B-9397-08002B2CF9AE}" pid="3" name="ICV">
    <vt:lpwstr>F1C7881D6D02C8E17000B56A07572728_42</vt:lpwstr>
  </property>
</Properties>
</file>